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mbria Bold" charset="1" panose="02040803050406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" charset="1" panose="020F0502020204030204"/>
      <p:regular r:id="rId19"/>
    </p:embeddedFont>
    <p:embeddedFont>
      <p:font typeface="Cambria Italics" charset="1" panose="020405030504060A0204"/>
      <p:regular r:id="rId20"/>
    </p:embeddedFont>
    <p:embeddedFont>
      <p:font typeface="Cambria Bold Italics" charset="1" panose="020408030504060A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E7C7B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468880" y="768096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F2A541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1259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49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ACCESSIBILITY TRACK  ·  YUVA FUTURE 6.0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5860" y="2811780"/>
            <a:ext cx="15773400" cy="1783080"/>
            <a:chOff x="0" y="0"/>
            <a:chExt cx="21031200" cy="2377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2367" r="0" b="-12236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103120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SignBridge India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4320540"/>
            <a:ext cx="14401800" cy="822960"/>
            <a:chOff x="0" y="0"/>
            <a:chExt cx="192024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02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920240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CFE0E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Indian Sign Language for All — a National ISL Adoption Ecosystem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5682615"/>
            <a:ext cx="2967990" cy="704850"/>
            <a:chOff x="0" y="0"/>
            <a:chExt cx="3957320" cy="939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7320" cy="939800"/>
            </a:xfrm>
            <a:custGeom>
              <a:avLst/>
              <a:gdLst/>
              <a:ahLst/>
              <a:cxnLst/>
              <a:rect r="r" b="b" t="t" l="l"/>
              <a:pathLst>
                <a:path h="939800" w="395732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806952" y="0"/>
                  </a:lnTo>
                  <a:cubicBezTo>
                    <a:pt x="3890010" y="0"/>
                    <a:pt x="3957320" y="67310"/>
                    <a:pt x="3957320" y="150368"/>
                  </a:cubicBezTo>
                  <a:lnTo>
                    <a:pt x="3957320" y="789432"/>
                  </a:lnTo>
                  <a:cubicBezTo>
                    <a:pt x="3957320" y="872490"/>
                    <a:pt x="3890010" y="939800"/>
                    <a:pt x="380695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5692140"/>
            <a:ext cx="2948940" cy="685800"/>
            <a:chOff x="0" y="0"/>
            <a:chExt cx="393192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379595" y="5682615"/>
            <a:ext cx="2967990" cy="704850"/>
            <a:chOff x="0" y="0"/>
            <a:chExt cx="3957320" cy="939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7320" cy="939800"/>
            </a:xfrm>
            <a:custGeom>
              <a:avLst/>
              <a:gdLst/>
              <a:ahLst/>
              <a:cxnLst/>
              <a:rect r="r" b="b" t="t" l="l"/>
              <a:pathLst>
                <a:path h="939800" w="395732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806952" y="0"/>
                  </a:lnTo>
                  <a:cubicBezTo>
                    <a:pt x="3890010" y="0"/>
                    <a:pt x="3957320" y="67310"/>
                    <a:pt x="3957320" y="150368"/>
                  </a:cubicBezTo>
                  <a:lnTo>
                    <a:pt x="3957320" y="789432"/>
                  </a:lnTo>
                  <a:cubicBezTo>
                    <a:pt x="3957320" y="872490"/>
                    <a:pt x="3890010" y="939800"/>
                    <a:pt x="380695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389120" y="5692140"/>
            <a:ext cx="2948940" cy="685800"/>
            <a:chOff x="0" y="0"/>
            <a:chExt cx="393192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534275" y="5682615"/>
            <a:ext cx="2967990" cy="704850"/>
            <a:chOff x="0" y="0"/>
            <a:chExt cx="3957320" cy="939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57320" cy="939800"/>
            </a:xfrm>
            <a:custGeom>
              <a:avLst/>
              <a:gdLst/>
              <a:ahLst/>
              <a:cxnLst/>
              <a:rect r="r" b="b" t="t" l="l"/>
              <a:pathLst>
                <a:path h="939800" w="395732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806952" y="0"/>
                  </a:lnTo>
                  <a:cubicBezTo>
                    <a:pt x="3890010" y="0"/>
                    <a:pt x="3957320" y="67310"/>
                    <a:pt x="3957320" y="150368"/>
                  </a:cubicBezTo>
                  <a:lnTo>
                    <a:pt x="3957320" y="789432"/>
                  </a:lnTo>
                  <a:cubicBezTo>
                    <a:pt x="3957320" y="872490"/>
                    <a:pt x="3890010" y="939800"/>
                    <a:pt x="380695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543800" y="5692140"/>
            <a:ext cx="2948940" cy="685800"/>
            <a:chOff x="0" y="0"/>
            <a:chExt cx="393192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Certification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88955" y="5682615"/>
            <a:ext cx="2967990" cy="704850"/>
            <a:chOff x="0" y="0"/>
            <a:chExt cx="3957320" cy="939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57320" cy="939800"/>
            </a:xfrm>
            <a:custGeom>
              <a:avLst/>
              <a:gdLst/>
              <a:ahLst/>
              <a:cxnLst/>
              <a:rect r="r" b="b" t="t" l="l"/>
              <a:pathLst>
                <a:path h="939800" w="395732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806952" y="0"/>
                  </a:lnTo>
                  <a:cubicBezTo>
                    <a:pt x="3890010" y="0"/>
                    <a:pt x="3957320" y="67310"/>
                    <a:pt x="3957320" y="150368"/>
                  </a:cubicBezTo>
                  <a:lnTo>
                    <a:pt x="3957320" y="789432"/>
                  </a:lnTo>
                  <a:cubicBezTo>
                    <a:pt x="3957320" y="872490"/>
                    <a:pt x="3890010" y="939800"/>
                    <a:pt x="380695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698480" y="5692140"/>
            <a:ext cx="2948940" cy="685800"/>
            <a:chOff x="0" y="0"/>
            <a:chExt cx="393192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843635" y="5682615"/>
            <a:ext cx="2967990" cy="704850"/>
            <a:chOff x="0" y="0"/>
            <a:chExt cx="3957320" cy="939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57320" cy="939800"/>
            </a:xfrm>
            <a:custGeom>
              <a:avLst/>
              <a:gdLst/>
              <a:ahLst/>
              <a:cxnLst/>
              <a:rect r="r" b="b" t="t" l="l"/>
              <a:pathLst>
                <a:path h="939800" w="395732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806952" y="0"/>
                  </a:lnTo>
                  <a:cubicBezTo>
                    <a:pt x="3890010" y="0"/>
                    <a:pt x="3957320" y="67310"/>
                    <a:pt x="3957320" y="150368"/>
                  </a:cubicBezTo>
                  <a:lnTo>
                    <a:pt x="3957320" y="789432"/>
                  </a:lnTo>
                  <a:cubicBezTo>
                    <a:pt x="3957320" y="872490"/>
                    <a:pt x="3890010" y="939800"/>
                    <a:pt x="3806952" y="939800"/>
                  </a:cubicBezTo>
                  <a:lnTo>
                    <a:pt x="150368" y="939800"/>
                  </a:lnTo>
                  <a:cubicBezTo>
                    <a:pt x="67310" y="939800"/>
                    <a:pt x="0" y="872490"/>
                    <a:pt x="0" y="789432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853160" y="5692140"/>
            <a:ext cx="2948940" cy="685800"/>
            <a:chOff x="0" y="0"/>
            <a:chExt cx="393192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Community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4200">
            <a:off x="1224905" y="7607618"/>
            <a:ext cx="15655300" cy="0"/>
          </a:xfrm>
          <a:prstGeom prst="line">
            <a:avLst/>
          </a:prstGeom>
          <a:ln cap="rnd" w="9525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234440" y="8023860"/>
            <a:ext cx="3703320" cy="411480"/>
            <a:chOff x="0" y="0"/>
            <a:chExt cx="493776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4440" y="8407908"/>
            <a:ext cx="3703320" cy="548640"/>
            <a:chOff x="0" y="0"/>
            <a:chExt cx="49377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37760" cy="731520"/>
            </a:xfrm>
            <a:custGeom>
              <a:avLst/>
              <a:gdLst/>
              <a:ahLst/>
              <a:cxnLst/>
              <a:rect r="r" b="b" t="t" l="l"/>
              <a:pathLst>
                <a:path h="7315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MITians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143500" y="8023860"/>
            <a:ext cx="3703320" cy="411480"/>
            <a:chOff x="0" y="0"/>
            <a:chExt cx="493776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CHAPTER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143500" y="8407908"/>
            <a:ext cx="3703320" cy="548640"/>
            <a:chOff x="0" y="0"/>
            <a:chExt cx="49377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37760" cy="731520"/>
            </a:xfrm>
            <a:custGeom>
              <a:avLst/>
              <a:gdLst/>
              <a:ahLst/>
              <a:cxnLst/>
              <a:rect r="r" b="b" t="t" l="l"/>
              <a:pathLst>
                <a:path h="7315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52560" y="8023860"/>
            <a:ext cx="3703320" cy="411480"/>
            <a:chOff x="0" y="0"/>
            <a:chExt cx="49377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052560" y="8407908"/>
            <a:ext cx="3703320" cy="548640"/>
            <a:chOff x="0" y="0"/>
            <a:chExt cx="49377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937760" cy="731520"/>
            </a:xfrm>
            <a:custGeom>
              <a:avLst/>
              <a:gdLst/>
              <a:ahLst/>
              <a:cxnLst/>
              <a:rect r="r" b="b" t="t" l="l"/>
              <a:pathLst>
                <a:path h="7315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Pune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961620" y="8023860"/>
            <a:ext cx="3703320" cy="411480"/>
            <a:chOff x="0" y="0"/>
            <a:chExt cx="493776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61620" y="8407908"/>
            <a:ext cx="3703320" cy="548640"/>
            <a:chOff x="0" y="0"/>
            <a:chExt cx="493776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37760" cy="731520"/>
            </a:xfrm>
            <a:custGeom>
              <a:avLst/>
              <a:gdLst/>
              <a:ahLst/>
              <a:cxnLst/>
              <a:rect r="r" b="b" t="t" l="l"/>
              <a:pathLst>
                <a:path h="7315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24" r="0" b="-815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49377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9"/>
                </a:lnSpc>
              </a:pPr>
              <a:r>
                <a:rPr lang="en-US" sz="234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Indian Sign Language for All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India's public services were never built for ISL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6259830" cy="2145030"/>
            <a:chOff x="0" y="0"/>
            <a:chExt cx="8346440" cy="2860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46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83464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198866" y="0"/>
                  </a:lnTo>
                  <a:cubicBezTo>
                    <a:pt x="8280400" y="0"/>
                    <a:pt x="8346440" y="66040"/>
                    <a:pt x="8346440" y="147574"/>
                  </a:cubicBezTo>
                  <a:lnTo>
                    <a:pt x="8346440" y="2712466"/>
                  </a:lnTo>
                  <a:cubicBezTo>
                    <a:pt x="8346440" y="2794000"/>
                    <a:pt x="8280400" y="2860040"/>
                    <a:pt x="81988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606040"/>
            <a:ext cx="2537460" cy="1714500"/>
            <a:chOff x="0" y="0"/>
            <a:chExt cx="338328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832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691" t="0" r="-3669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38328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E7C7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~5M–63M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34740" y="2606040"/>
            <a:ext cx="3291840" cy="1714500"/>
            <a:chOff x="0" y="0"/>
            <a:chExt cx="438912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891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824" t="0" r="-1682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8912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Deaf &amp; hard-of-hearing citizens in India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(Census 2011 vs. WHO-linked estimates)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4791075"/>
            <a:ext cx="6259830" cy="2145030"/>
            <a:chOff x="0" y="0"/>
            <a:chExt cx="8346440" cy="2860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46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83464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198866" y="0"/>
                  </a:lnTo>
                  <a:cubicBezTo>
                    <a:pt x="8280400" y="0"/>
                    <a:pt x="8346440" y="66040"/>
                    <a:pt x="8346440" y="147574"/>
                  </a:cubicBezTo>
                  <a:lnTo>
                    <a:pt x="8346440" y="2712466"/>
                  </a:lnTo>
                  <a:cubicBezTo>
                    <a:pt x="8346440" y="2794000"/>
                    <a:pt x="8280400" y="2860040"/>
                    <a:pt x="81988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5006340"/>
            <a:ext cx="2537460" cy="1714500"/>
            <a:chOff x="0" y="0"/>
            <a:chExt cx="3383280" cy="228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32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691" t="0" r="-3669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38328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2A5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&lt;300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34740" y="5006340"/>
            <a:ext cx="3291840" cy="1714500"/>
            <a:chOff x="0" y="0"/>
            <a:chExt cx="4389120" cy="228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891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824" t="0" r="-1682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38912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Certified ISL interpreters nationwide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(ISLRTC, Govt. of India)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13435" y="7191375"/>
            <a:ext cx="6259830" cy="2145030"/>
            <a:chOff x="0" y="0"/>
            <a:chExt cx="8346440" cy="2860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46440" cy="2860040"/>
            </a:xfrm>
            <a:custGeom>
              <a:avLst/>
              <a:gdLst/>
              <a:ahLst/>
              <a:cxnLst/>
              <a:rect r="r" b="b" t="t" l="l"/>
              <a:pathLst>
                <a:path h="2860040" w="834644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8198866" y="0"/>
                  </a:lnTo>
                  <a:cubicBezTo>
                    <a:pt x="8280400" y="0"/>
                    <a:pt x="8346440" y="66040"/>
                    <a:pt x="8346440" y="147574"/>
                  </a:cubicBezTo>
                  <a:lnTo>
                    <a:pt x="8346440" y="2712466"/>
                  </a:lnTo>
                  <a:cubicBezTo>
                    <a:pt x="8346440" y="2794000"/>
                    <a:pt x="8280400" y="2860040"/>
                    <a:pt x="8198866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7406640"/>
            <a:ext cx="2537460" cy="1714500"/>
            <a:chOff x="0" y="0"/>
            <a:chExt cx="3383280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832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691" t="0" r="-3669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383280" cy="2305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E7C7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34740" y="7406640"/>
            <a:ext cx="3291840" cy="1714500"/>
            <a:chOff x="0" y="0"/>
            <a:chExt cx="4389120" cy="2286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8912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824" t="0" r="-1682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38912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Mandatory ISL requirement for</a:t>
              </a:r>
            </a:p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frontline public-service staff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12380" y="2400300"/>
            <a:ext cx="9806940" cy="6926580"/>
            <a:chOff x="0" y="0"/>
            <a:chExt cx="13075920" cy="9235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075920" cy="9235440"/>
            </a:xfrm>
            <a:custGeom>
              <a:avLst/>
              <a:gdLst/>
              <a:ahLst/>
              <a:cxnLst/>
              <a:rect r="r" b="b" t="t" l="l"/>
              <a:pathLst>
                <a:path h="9235440" w="1307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93040" y="0"/>
                  </a:lnTo>
                  <a:cubicBezTo>
                    <a:pt x="12994005" y="0"/>
                    <a:pt x="13075920" y="81915"/>
                    <a:pt x="13075920" y="182880"/>
                  </a:cubicBezTo>
                  <a:lnTo>
                    <a:pt x="13075920" y="9052560"/>
                  </a:lnTo>
                  <a:cubicBezTo>
                    <a:pt x="13075920" y="9153525"/>
                    <a:pt x="12994005" y="9235440"/>
                    <a:pt x="12893040" y="9235440"/>
                  </a:cubicBezTo>
                  <a:lnTo>
                    <a:pt x="182880" y="9235440"/>
                  </a:lnTo>
                  <a:cubicBezTo>
                    <a:pt x="81915" y="9235440"/>
                    <a:pt x="0" y="9153525"/>
                    <a:pt x="0" y="905256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0" y="2743200"/>
            <a:ext cx="8229600" cy="480060"/>
            <a:chOff x="0" y="0"/>
            <a:chExt cx="109728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ROOT CAUSE — 5 WHYS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0" y="3429000"/>
            <a:ext cx="493776" cy="493776"/>
            <a:chOff x="0" y="0"/>
            <a:chExt cx="658368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0" y="3429000"/>
            <a:ext cx="493776" cy="493776"/>
            <a:chOff x="0" y="0"/>
            <a:chExt cx="658368" cy="6583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83980" y="3346704"/>
            <a:ext cx="8092440" cy="685800"/>
            <a:chOff x="0" y="0"/>
            <a:chExt cx="1078992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Deaf citizens can't communicate with staff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rot="5237640">
            <a:off x="8173831" y="4201287"/>
            <a:ext cx="605323" cy="0"/>
          </a:xfrm>
          <a:prstGeom prst="line">
            <a:avLst/>
          </a:prstGeom>
          <a:ln cap="rnd" w="19050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8229600" y="4553712"/>
            <a:ext cx="493776" cy="493776"/>
            <a:chOff x="0" y="0"/>
            <a:chExt cx="658368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0" y="4553712"/>
            <a:ext cx="493776" cy="493776"/>
            <a:chOff x="0" y="0"/>
            <a:chExt cx="658368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983980" y="4471416"/>
            <a:ext cx="8092440" cy="685800"/>
            <a:chOff x="0" y="0"/>
            <a:chExt cx="1078992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Staff are never trained in ISL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rot="5237640">
            <a:off x="8173831" y="5325999"/>
            <a:ext cx="605323" cy="0"/>
          </a:xfrm>
          <a:prstGeom prst="line">
            <a:avLst/>
          </a:prstGeom>
          <a:ln cap="rnd" w="19050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8229600" y="5678424"/>
            <a:ext cx="493776" cy="493776"/>
            <a:chOff x="0" y="0"/>
            <a:chExt cx="658368" cy="6583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229600" y="5678424"/>
            <a:ext cx="493776" cy="493776"/>
            <a:chOff x="0" y="0"/>
            <a:chExt cx="658368" cy="65836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983980" y="5596128"/>
            <a:ext cx="8092440" cy="685800"/>
            <a:chOff x="0" y="0"/>
            <a:chExt cx="1078992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 is no requirement or incentive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5237640">
            <a:off x="8173831" y="6450711"/>
            <a:ext cx="605323" cy="0"/>
          </a:xfrm>
          <a:prstGeom prst="line">
            <a:avLst/>
          </a:prstGeom>
          <a:ln cap="rnd" w="19050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8229600" y="6803136"/>
            <a:ext cx="493776" cy="493776"/>
            <a:chOff x="0" y="0"/>
            <a:chExt cx="658368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0" y="6803136"/>
            <a:ext cx="493776" cy="493776"/>
            <a:chOff x="0" y="0"/>
            <a:chExt cx="658368" cy="6583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983980" y="6720840"/>
            <a:ext cx="8092440" cy="685800"/>
            <a:chOff x="0" y="0"/>
            <a:chExt cx="1078992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ISL isn't integrated into policy or professional training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5237640">
            <a:off x="8173831" y="7575423"/>
            <a:ext cx="605323" cy="0"/>
          </a:xfrm>
          <a:prstGeom prst="line">
            <a:avLst/>
          </a:prstGeom>
          <a:ln cap="rnd" w="19050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8229600" y="7927848"/>
            <a:ext cx="493776" cy="493776"/>
            <a:chOff x="0" y="0"/>
            <a:chExt cx="658368" cy="6583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8229600" y="7927848"/>
            <a:ext cx="493776" cy="493776"/>
            <a:chOff x="0" y="0"/>
            <a:chExt cx="658368" cy="6583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983980" y="7845552"/>
            <a:ext cx="8092440" cy="685800"/>
            <a:chOff x="0" y="0"/>
            <a:chExt cx="1078992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89920" cy="914400"/>
            </a:xfrm>
            <a:custGeom>
              <a:avLst/>
              <a:gdLst/>
              <a:ahLst/>
              <a:cxnLst/>
              <a:rect r="r" b="b" t="t" l="l"/>
              <a:pathLst>
                <a:path h="914400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07899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There is no nationwide ISL adoption ecosystem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955280" y="8531352"/>
            <a:ext cx="8778240" cy="730945"/>
            <a:chOff x="0" y="0"/>
            <a:chExt cx="11704320" cy="97459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704320" cy="974594"/>
            </a:xfrm>
            <a:custGeom>
              <a:avLst/>
              <a:gdLst/>
              <a:ahLst/>
              <a:cxnLst/>
              <a:rect r="r" b="b" t="t" l="l"/>
              <a:pathLst>
                <a:path h="974594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974594"/>
                  </a:lnTo>
                  <a:lnTo>
                    <a:pt x="0" y="97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474" r="0" b="-17153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1704320" cy="1012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i="true">
                  <a:solidFill>
                    <a:srgbClr val="CFE0E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 problem: people who provide essential public services do not know ISL — not that deaf citizens don't know it.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SignBridge India — 8 Integrated Modules, One Ecosystem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098548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an ISL learning app. Eight connected modules spanning technology, training, certification, policy and community — each serving a different stakeholder.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939415"/>
            <a:ext cx="3962400" cy="2967990"/>
            <a:chOff x="0" y="0"/>
            <a:chExt cx="5283200" cy="395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4712" y="3250692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24712" y="3250692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24712" y="411784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ISL Learning Platform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712" y="495033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Teach ISL in an engaging and structured manner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31105" y="2939415"/>
            <a:ext cx="3962400" cy="2967990"/>
            <a:chOff x="0" y="0"/>
            <a:chExt cx="5283200" cy="39573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342382" y="3250692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342382" y="3250692"/>
            <a:ext cx="685800" cy="685800"/>
            <a:chOff x="0" y="0"/>
            <a:chExt cx="9144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342382" y="4117848"/>
            <a:ext cx="333984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Live Communication Assistant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42382" y="495033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The assistant enables real-time communication.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8775" y="2939415"/>
            <a:ext cx="3962400" cy="2967990"/>
            <a:chOff x="0" y="0"/>
            <a:chExt cx="5283200" cy="39573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560052" y="3250692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560052" y="3250692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560052" y="411784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Dashboard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560052" y="495033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monitoring and implementation.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466445" y="2939415"/>
            <a:ext cx="3962400" cy="2967990"/>
            <a:chOff x="0" y="0"/>
            <a:chExt cx="5283200" cy="39573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77722" y="3250692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77722" y="3250692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3777722" y="411784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Certification Portal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77722" y="495033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Bronze to Platinum tiers for individuals &amp; institutions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13435" y="6162675"/>
            <a:ext cx="3962400" cy="2967990"/>
            <a:chOff x="0" y="0"/>
            <a:chExt cx="5283200" cy="39573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24712" y="6473952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A398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24712" y="6473952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24712" y="734110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Employer Portal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24712" y="817359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Workplace training, accessibility score, CSR tie-in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5031105" y="6162675"/>
            <a:ext cx="3962400" cy="2967990"/>
            <a:chOff x="0" y="0"/>
            <a:chExt cx="5283200" cy="39573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342382" y="6473952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342382" y="6473952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342382" y="734110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Offline Rural Kit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342382" y="817359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Low-data, offline-first access for Tier 2/3 cities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248775" y="6162675"/>
            <a:ext cx="3962400" cy="2967990"/>
            <a:chOff x="0" y="0"/>
            <a:chExt cx="5283200" cy="39573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560052" y="6473952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7A398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560052" y="6473952"/>
            <a:ext cx="685800" cy="68580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9560052" y="734110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 Platform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560052" y="817359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Tracks adoption, training hours, certification rates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3466445" y="6162675"/>
            <a:ext cx="3962400" cy="2967990"/>
            <a:chOff x="0" y="0"/>
            <a:chExt cx="5283200" cy="3957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83200" cy="3957320"/>
            </a:xfrm>
            <a:custGeom>
              <a:avLst/>
              <a:gdLst/>
              <a:ahLst/>
              <a:cxnLst/>
              <a:rect r="r" b="b" t="t" l="l"/>
              <a:pathLst>
                <a:path h="3957320" w="52832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5136007" y="0"/>
                  </a:lnTo>
                  <a:cubicBezTo>
                    <a:pt x="5217287" y="0"/>
                    <a:pt x="5283200" y="65913"/>
                    <a:pt x="5283200" y="147193"/>
                  </a:cubicBezTo>
                  <a:lnTo>
                    <a:pt x="5283200" y="3810127"/>
                  </a:lnTo>
                  <a:cubicBezTo>
                    <a:pt x="5283200" y="3891407"/>
                    <a:pt x="5217287" y="3957320"/>
                    <a:pt x="5136007" y="3957320"/>
                  </a:cubicBezTo>
                  <a:lnTo>
                    <a:pt x="147193" y="3957320"/>
                  </a:lnTo>
                  <a:cubicBezTo>
                    <a:pt x="65913" y="3957320"/>
                    <a:pt x="0" y="3891407"/>
                    <a:pt x="0" y="381012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3777722" y="6473952"/>
            <a:ext cx="685800" cy="685800"/>
            <a:chOff x="0" y="0"/>
            <a:chExt cx="91440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777722" y="6473952"/>
            <a:ext cx="685800" cy="685800"/>
            <a:chOff x="0" y="0"/>
            <a:chExt cx="914400" cy="914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13777722" y="7341108"/>
            <a:ext cx="333984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</a:pPr>
            <a:r>
              <a:rPr lang="en-US" sz="207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Community Learning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777722" y="8173593"/>
            <a:ext cx="333984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ambassadors, NGOs &amp; volunteer trainers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71550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Live Communication Assistant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1913272"/>
            <a:ext cx="16459200" cy="548640"/>
            <a:chOff x="0" y="0"/>
            <a:chExt cx="219456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Real-time, no interpreter needed. A deaf patient visits a hospital, the doctor doesn't know ISL — SignBridge closes that gap instantly.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1044" y="2625754"/>
            <a:ext cx="2802797" cy="2658476"/>
            <a:chOff x="0" y="0"/>
            <a:chExt cx="289212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95656" y="2742009"/>
            <a:ext cx="968793" cy="581276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91531" y="3697817"/>
            <a:ext cx="214182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ISL user signs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82580" y="2625754"/>
            <a:ext cx="2802797" cy="2658476"/>
            <a:chOff x="0" y="0"/>
            <a:chExt cx="2892120" cy="274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39089" y="2742009"/>
            <a:ext cx="968793" cy="581276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459987" y="3497792"/>
            <a:ext cx="244798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Camera captures gesture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42602" y="2625754"/>
            <a:ext cx="2802797" cy="2658476"/>
            <a:chOff x="0" y="0"/>
            <a:chExt cx="289212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954770" y="2742009"/>
            <a:ext cx="968793" cy="581276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885719" y="3497792"/>
            <a:ext cx="244798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Computer Vision detects gesture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232854" y="2625754"/>
            <a:ext cx="2802797" cy="2658476"/>
            <a:chOff x="0" y="0"/>
            <a:chExt cx="2892120" cy="274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421698" y="2742009"/>
            <a:ext cx="968793" cy="581276"/>
            <a:chOff x="0" y="0"/>
            <a:chExt cx="9144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257181" y="3497792"/>
            <a:ext cx="275414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CNN recognises supported ISL sign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692876" y="2625754"/>
            <a:ext cx="2800657" cy="2656447"/>
            <a:chOff x="0" y="0"/>
            <a:chExt cx="2892120" cy="2743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873851" y="2742009"/>
            <a:ext cx="968793" cy="581276"/>
            <a:chOff x="0" y="0"/>
            <a:chExt cx="914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914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868863" y="3297767"/>
            <a:ext cx="244868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Confidence score validates prediction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85800" y="8813881"/>
            <a:ext cx="17361558" cy="951911"/>
            <a:chOff x="0" y="0"/>
            <a:chExt cx="21945600" cy="1203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45600" cy="1203248"/>
            </a:xfrm>
            <a:custGeom>
              <a:avLst/>
              <a:gdLst/>
              <a:ahLst/>
              <a:cxnLst/>
              <a:rect r="r" b="b" t="t" l="l"/>
              <a:pathLst>
                <a:path h="12032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03248"/>
                  </a:lnTo>
                  <a:lnTo>
                    <a:pt x="0" y="12032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4982" r="0" b="-28577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1945600" cy="12508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MVP: </a:t>
              </a:r>
              <a:r>
                <a:rPr lang="en-US" sz="21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ISL → multilingual text communication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Future:</a:t>
              </a:r>
              <a:r>
                <a:rPr lang="en-US" sz="2199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speech input/output and two-way ISL communication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405170" y="5724863"/>
            <a:ext cx="2802797" cy="2658476"/>
            <a:chOff x="0" y="0"/>
            <a:chExt cx="2892120" cy="2743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685137" y="5416316"/>
            <a:ext cx="968793" cy="1637785"/>
            <a:chOff x="0" y="0"/>
            <a:chExt cx="914400" cy="15458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1545832"/>
            </a:xfrm>
            <a:custGeom>
              <a:avLst/>
              <a:gdLst/>
              <a:ahLst/>
              <a:cxnLst/>
              <a:rect r="r" b="b" t="t" l="l"/>
              <a:pathLst>
                <a:path h="154583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545832"/>
                  </a:lnTo>
                  <a:lnTo>
                    <a:pt x="0" y="15458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645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14400" cy="1555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514480" y="6426597"/>
            <a:ext cx="252203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Recognised signs are assembled into sequence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5865191" y="5724863"/>
            <a:ext cx="2802797" cy="2658476"/>
            <a:chOff x="0" y="0"/>
            <a:chExt cx="2892120" cy="2743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116584" y="5503305"/>
            <a:ext cx="968793" cy="1580517"/>
            <a:chOff x="0" y="0"/>
            <a:chExt cx="914400" cy="14917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1491780"/>
            </a:xfrm>
            <a:custGeom>
              <a:avLst/>
              <a:gdLst/>
              <a:ahLst/>
              <a:cxnLst/>
              <a:rect r="r" b="b" t="t" l="l"/>
              <a:pathLst>
                <a:path h="14917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91780"/>
                  </a:lnTo>
                  <a:lnTo>
                    <a:pt x="0" y="14917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6322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914400" cy="150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6034160" y="6426597"/>
            <a:ext cx="2495091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AI reconstructs a coherent sentence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355444" y="5724863"/>
            <a:ext cx="2802797" cy="2658476"/>
            <a:chOff x="0" y="0"/>
            <a:chExt cx="2892120" cy="2743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606836" y="5474847"/>
            <a:ext cx="968793" cy="1313817"/>
            <a:chOff x="0" y="0"/>
            <a:chExt cx="914400" cy="124005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4400" cy="1240053"/>
            </a:xfrm>
            <a:custGeom>
              <a:avLst/>
              <a:gdLst/>
              <a:ahLst/>
              <a:cxnLst/>
              <a:rect r="r" b="b" t="t" l="l"/>
              <a:pathLst>
                <a:path h="1240053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40053"/>
                  </a:lnTo>
                  <a:lnTo>
                    <a:pt x="0" y="124005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5575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914400" cy="1249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591913" y="6436122"/>
            <a:ext cx="2301602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User selects English / Hindi / Marathi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815466" y="5724863"/>
            <a:ext cx="2800657" cy="2656447"/>
            <a:chOff x="0" y="0"/>
            <a:chExt cx="2892120" cy="2743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892171" cy="2743200"/>
            </a:xfrm>
            <a:custGeom>
              <a:avLst/>
              <a:gdLst/>
              <a:ahLst/>
              <a:cxnLst/>
              <a:rect r="r" b="b" t="t" l="l"/>
              <a:pathLst>
                <a:path h="2743200" w="289217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745867" y="0"/>
                  </a:lnTo>
                  <a:cubicBezTo>
                    <a:pt x="2826639" y="0"/>
                    <a:pt x="2892171" y="65532"/>
                    <a:pt x="2892171" y="146304"/>
                  </a:cubicBezTo>
                  <a:lnTo>
                    <a:pt x="2892171" y="2596896"/>
                  </a:lnTo>
                  <a:cubicBezTo>
                    <a:pt x="2892171" y="2677668"/>
                    <a:pt x="2826639" y="2743200"/>
                    <a:pt x="2745867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015491" y="5474847"/>
            <a:ext cx="968793" cy="1580517"/>
            <a:chOff x="0" y="0"/>
            <a:chExt cx="914400" cy="14917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1491780"/>
            </a:xfrm>
            <a:custGeom>
              <a:avLst/>
              <a:gdLst/>
              <a:ahLst/>
              <a:cxnLst/>
              <a:rect r="r" b="b" t="t" l="l"/>
              <a:pathLst>
                <a:path h="149178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491780"/>
                  </a:lnTo>
                  <a:lnTo>
                    <a:pt x="0" y="14917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6322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914400" cy="1501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993253" y="6426597"/>
            <a:ext cx="2445082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68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Non-ISL user reads the message</a:t>
            </a:r>
          </a:p>
        </p:txBody>
      </p:sp>
      <p:sp>
        <p:nvSpPr>
          <p:cNvPr name="AutoShape 74" id="74"/>
          <p:cNvSpPr/>
          <p:nvPr/>
        </p:nvSpPr>
        <p:spPr>
          <a:xfrm>
            <a:off x="3563840" y="3954992"/>
            <a:ext cx="718740" cy="0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>
            <a:off x="7085377" y="3954992"/>
            <a:ext cx="657225" cy="0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>
            <a:off x="10545398" y="3954992"/>
            <a:ext cx="704630" cy="0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>
            <a:off x="14011324" y="3954992"/>
            <a:ext cx="704630" cy="0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 flipH="true">
            <a:off x="15616123" y="5282201"/>
            <a:ext cx="477082" cy="1770886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 flipH="true">
            <a:off x="12158241" y="7053086"/>
            <a:ext cx="657225" cy="1015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 flipH="true">
            <a:off x="8667988" y="7054101"/>
            <a:ext cx="687456" cy="0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1" id="81"/>
          <p:cNvSpPr/>
          <p:nvPr/>
        </p:nvSpPr>
        <p:spPr>
          <a:xfrm flipH="true" flipV="true">
            <a:off x="5207966" y="7054101"/>
            <a:ext cx="657225" cy="507"/>
          </a:xfrm>
          <a:prstGeom prst="line">
            <a:avLst/>
          </a:prstGeom>
          <a:ln cap="rnd" w="28575">
            <a:solidFill>
              <a:srgbClr val="5B6B82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ASK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3C4E7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specific ask — not a call for ‘more awareness’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22195"/>
            <a:ext cx="16615410" cy="2076450"/>
            <a:chOff x="0" y="0"/>
            <a:chExt cx="2215388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53880" cy="2768600"/>
            </a:xfrm>
            <a:custGeom>
              <a:avLst/>
              <a:gdLst/>
              <a:ahLst/>
              <a:cxnLst/>
              <a:rect r="r" b="b" t="t" l="l"/>
              <a:pathLst>
                <a:path h="2768600" w="2215388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21969349" y="0"/>
                  </a:lnTo>
                  <a:cubicBezTo>
                    <a:pt x="22071330" y="0"/>
                    <a:pt x="22153880" y="82677"/>
                    <a:pt x="22153880" y="184531"/>
                  </a:cubicBezTo>
                  <a:lnTo>
                    <a:pt x="22153880" y="2584069"/>
                  </a:lnTo>
                  <a:cubicBezTo>
                    <a:pt x="22153880" y="2686050"/>
                    <a:pt x="22071203" y="2768600"/>
                    <a:pt x="2196934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24345A"/>
            </a:solidFill>
            <a:ln w="19050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15636240" cy="1645920"/>
            <a:chOff x="0" y="0"/>
            <a:chExt cx="2084832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4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848320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i="true">
                  <a:solidFill>
                    <a:srgbClr val="F7F8F9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“We recommend that the Ministry of Social Justice &amp; Empowerment mandate ISL certification for frontline public-service staff, and embed standardised ISL modules in B.Ed., Nursing, and Medical education — under RPwD Act implementation guidelines.”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5074920"/>
            <a:ext cx="3099816" cy="3291840"/>
            <a:chOff x="0" y="0"/>
            <a:chExt cx="4133088" cy="4389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330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4242816"/>
                  </a:lnTo>
                  <a:cubicBezTo>
                    <a:pt x="4133088" y="4323588"/>
                    <a:pt x="4067556" y="4389120"/>
                    <a:pt x="3986784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24345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88820" y="5417820"/>
            <a:ext cx="768096" cy="768096"/>
            <a:chOff x="0" y="0"/>
            <a:chExt cx="1024128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7552" y="6408420"/>
            <a:ext cx="2770632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Mandatory Certification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552" y="7309485"/>
            <a:ext cx="27706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6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For hospital, bank, police &amp; govt. staff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197096" y="5074920"/>
            <a:ext cx="3099816" cy="3291840"/>
            <a:chOff x="0" y="0"/>
            <a:chExt cx="4133088" cy="4389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330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4242816"/>
                  </a:lnTo>
                  <a:cubicBezTo>
                    <a:pt x="4133088" y="4323588"/>
                    <a:pt x="4067556" y="4389120"/>
                    <a:pt x="3986784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24345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362956" y="5417820"/>
            <a:ext cx="768096" cy="768096"/>
            <a:chOff x="0" y="0"/>
            <a:chExt cx="1024128" cy="102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361688" y="6408420"/>
            <a:ext cx="2770632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Curriculum Integration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61688" y="7309485"/>
            <a:ext cx="27706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6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Basic ISL modules in B.Ed., Nursing, Medical education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571232" y="5074920"/>
            <a:ext cx="3099816" cy="3291840"/>
            <a:chOff x="0" y="0"/>
            <a:chExt cx="4133088" cy="43891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330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4242816"/>
                  </a:lnTo>
                  <a:cubicBezTo>
                    <a:pt x="4133088" y="4323588"/>
                    <a:pt x="4067556" y="4389120"/>
                    <a:pt x="3986784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24345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737092" y="5417820"/>
            <a:ext cx="768096" cy="768096"/>
            <a:chOff x="0" y="0"/>
            <a:chExt cx="1024128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735824" y="6408420"/>
            <a:ext cx="2770632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Standardised Curriculum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35824" y="7309485"/>
            <a:ext cx="27706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6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Single national standard via ISLRTC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945368" y="5074920"/>
            <a:ext cx="3099816" cy="3291840"/>
            <a:chOff x="0" y="0"/>
            <a:chExt cx="4133088" cy="4389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330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4242816"/>
                  </a:lnTo>
                  <a:cubicBezTo>
                    <a:pt x="4133088" y="4323588"/>
                    <a:pt x="4067556" y="4389120"/>
                    <a:pt x="3986784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24345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11228" y="5417820"/>
            <a:ext cx="768096" cy="768096"/>
            <a:chOff x="0" y="0"/>
            <a:chExt cx="1024128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109960" y="6408420"/>
            <a:ext cx="2770632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Institutional Incentives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109960" y="7309485"/>
            <a:ext cx="27706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6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For certified hospitals, schools, offices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319504" y="5074920"/>
            <a:ext cx="3099816" cy="3291840"/>
            <a:chOff x="0" y="0"/>
            <a:chExt cx="4133088" cy="4389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33088" cy="4389120"/>
            </a:xfrm>
            <a:custGeom>
              <a:avLst/>
              <a:gdLst/>
              <a:ahLst/>
              <a:cxnLst/>
              <a:rect r="r" b="b" t="t" l="l"/>
              <a:pathLst>
                <a:path h="4389120" w="413308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986784" y="0"/>
                  </a:lnTo>
                  <a:cubicBezTo>
                    <a:pt x="4067556" y="0"/>
                    <a:pt x="4133088" y="65532"/>
                    <a:pt x="4133088" y="146304"/>
                  </a:cubicBezTo>
                  <a:lnTo>
                    <a:pt x="4133088" y="4242816"/>
                  </a:lnTo>
                  <a:cubicBezTo>
                    <a:pt x="4133088" y="4323588"/>
                    <a:pt x="4067556" y="4389120"/>
                    <a:pt x="3986784" y="4389120"/>
                  </a:cubicBezTo>
                  <a:lnTo>
                    <a:pt x="146304" y="4389120"/>
                  </a:lnTo>
                  <a:cubicBezTo>
                    <a:pt x="65532" y="4389120"/>
                    <a:pt x="0" y="4323588"/>
                    <a:pt x="0" y="4242816"/>
                  </a:cubicBezTo>
                  <a:close/>
                </a:path>
              </a:pathLst>
            </a:custGeom>
            <a:solidFill>
              <a:srgbClr val="24345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485364" y="5417820"/>
            <a:ext cx="768096" cy="768096"/>
            <a:chOff x="0" y="0"/>
            <a:chExt cx="1024128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4484096" y="6408420"/>
            <a:ext cx="2770632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Phased Rollout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484096" y="7309485"/>
            <a:ext cx="277063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16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Starting with healthcare &amp; public service centres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9121140"/>
            <a:ext cx="16459200" cy="480060"/>
            <a:chOff x="0" y="0"/>
            <a:chExt cx="2194560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21945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3C4E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Responsible body: Ministry of Social Justice &amp; Empowerment, with ISLRTC as curriculum &amp; certification authority.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C4E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9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 &amp; 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Grounded in practical reality — starting in Pune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6858000" cy="411480"/>
            <a:chOff x="0" y="0"/>
            <a:chExt cx="91440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90 DAYS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811780"/>
            <a:ext cx="466344" cy="466344"/>
            <a:chOff x="0" y="0"/>
            <a:chExt cx="621792" cy="6217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2811780"/>
            <a:ext cx="466344" cy="466344"/>
            <a:chOff x="0" y="0"/>
            <a:chExt cx="621792" cy="621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8760" y="2756916"/>
            <a:ext cx="6720840" cy="822960"/>
            <a:chOff x="0" y="0"/>
            <a:chExt cx="896112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961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Onboard 5 hospitals + 10 schools in Pune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799332"/>
            <a:ext cx="466344" cy="466344"/>
            <a:chOff x="0" y="0"/>
            <a:chExt cx="62179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3799332"/>
            <a:ext cx="466344" cy="466344"/>
            <a:chOff x="0" y="0"/>
            <a:chExt cx="621792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08760" y="3744468"/>
            <a:ext cx="6720840" cy="822960"/>
            <a:chOff x="0" y="0"/>
            <a:chExt cx="896112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961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Live Communication Assistant at reception/OPD counters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4786884"/>
            <a:ext cx="466344" cy="466344"/>
            <a:chOff x="0" y="0"/>
            <a:chExt cx="621792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4786884"/>
            <a:ext cx="466344" cy="466344"/>
            <a:chOff x="0" y="0"/>
            <a:chExt cx="62179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8760" y="4732020"/>
            <a:ext cx="6720840" cy="822960"/>
            <a:chOff x="0" y="0"/>
            <a:chExt cx="896112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961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Begin Bronze-tier certification for frontline staff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5774436"/>
            <a:ext cx="466344" cy="466344"/>
            <a:chOff x="0" y="0"/>
            <a:chExt cx="621792" cy="621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5774436"/>
            <a:ext cx="466344" cy="466344"/>
            <a:chOff x="0" y="0"/>
            <a:chExt cx="621792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08760" y="5719572"/>
            <a:ext cx="6720840" cy="822960"/>
            <a:chOff x="0" y="0"/>
            <a:chExt cx="896112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961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community workshops via college ambassadors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6761988"/>
            <a:ext cx="466344" cy="466344"/>
            <a:chOff x="0" y="0"/>
            <a:chExt cx="621792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2960" y="6761988"/>
            <a:ext cx="466344" cy="466344"/>
            <a:chOff x="0" y="0"/>
            <a:chExt cx="621792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2179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508760" y="6707124"/>
            <a:ext cx="6720840" cy="822960"/>
            <a:chOff x="0" y="0"/>
            <a:chExt cx="896112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611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127" r="0" b="-10912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9611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89"/>
                </a:lnSpc>
              </a:pPr>
              <a:r>
                <a:rPr lang="en-US" sz="1824">
                  <a:solidFill>
                    <a:srgbClr val="1B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Collect deaf-community feedback to validate curriculum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366760" y="2263140"/>
            <a:ext cx="8229600" cy="411480"/>
            <a:chOff x="0" y="0"/>
            <a:chExt cx="109728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STAKEHOLDERS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366760" y="2811780"/>
            <a:ext cx="9052560" cy="754380"/>
            <a:chOff x="0" y="0"/>
            <a:chExt cx="1207008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572500" y="2811780"/>
            <a:ext cx="3017520" cy="754380"/>
            <a:chOff x="0" y="0"/>
            <a:chExt cx="402336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Government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658600" y="2811780"/>
            <a:ext cx="5623560" cy="754380"/>
            <a:chOff x="0" y="0"/>
            <a:chExt cx="749808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Policy mandate &amp; funding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366760" y="3566160"/>
            <a:ext cx="9052560" cy="754380"/>
            <a:chOff x="0" y="0"/>
            <a:chExt cx="12070080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572500" y="3566160"/>
            <a:ext cx="3017520" cy="754380"/>
            <a:chOff x="0" y="0"/>
            <a:chExt cx="4023360" cy="1005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ISLRTC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658600" y="3566160"/>
            <a:ext cx="5623560" cy="754380"/>
            <a:chOff x="0" y="0"/>
            <a:chExt cx="7498080" cy="10058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Curriculum &amp; certification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366760" y="4320540"/>
            <a:ext cx="9052560" cy="754380"/>
            <a:chOff x="0" y="0"/>
            <a:chExt cx="1207008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572500" y="4320540"/>
            <a:ext cx="3017520" cy="754380"/>
            <a:chOff x="0" y="0"/>
            <a:chExt cx="402336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Hospitals / Schools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58600" y="4320540"/>
            <a:ext cx="5623560" cy="754380"/>
            <a:chOff x="0" y="0"/>
            <a:chExt cx="7498080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Pilot implementation sites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366760" y="5074920"/>
            <a:ext cx="9052560" cy="754380"/>
            <a:chOff x="0" y="0"/>
            <a:chExt cx="12070080" cy="1005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72500" y="5074920"/>
            <a:ext cx="3017520" cy="754380"/>
            <a:chOff x="0" y="0"/>
            <a:chExt cx="4023360" cy="10058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NGOs / Colleges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658600" y="5074920"/>
            <a:ext cx="5623560" cy="754380"/>
            <a:chOff x="0" y="0"/>
            <a:chExt cx="7498080" cy="10058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Outreach &amp; volunteers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366760" y="5829300"/>
            <a:ext cx="9052560" cy="754380"/>
            <a:chOff x="0" y="0"/>
            <a:chExt cx="12070080" cy="10058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572500" y="5829300"/>
            <a:ext cx="3017520" cy="754380"/>
            <a:chOff x="0" y="0"/>
            <a:chExt cx="4023360" cy="10058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CSR Partners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658600" y="5829300"/>
            <a:ext cx="5623560" cy="754380"/>
            <a:chOff x="0" y="0"/>
            <a:chExt cx="7498080" cy="10058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&amp; certification funding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366760" y="6583680"/>
            <a:ext cx="9052560" cy="754380"/>
            <a:chOff x="0" y="0"/>
            <a:chExt cx="12070080" cy="10058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070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8572500" y="6583680"/>
            <a:ext cx="3017520" cy="754380"/>
            <a:chOff x="0" y="0"/>
            <a:chExt cx="4023360" cy="10058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0233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402336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9"/>
                </a:lnSpc>
              </a:pPr>
              <a:r>
                <a:rPr lang="en-US" sz="192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Deaf Community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1658600" y="6583680"/>
            <a:ext cx="5623560" cy="754380"/>
            <a:chOff x="0" y="0"/>
            <a:chExt cx="7498080" cy="10058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749808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99"/>
                </a:lnSpc>
              </a:pPr>
              <a:r>
                <a:rPr lang="en-US" sz="1749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Feedback &amp; validation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22960" y="8298180"/>
            <a:ext cx="16596360" cy="1165860"/>
            <a:chOff x="0" y="0"/>
            <a:chExt cx="22128480" cy="155448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408176"/>
                  </a:lnTo>
                  <a:cubicBezTo>
                    <a:pt x="22128480" y="1488948"/>
                    <a:pt x="22062948" y="1554480"/>
                    <a:pt x="2198217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65860" y="8298180"/>
            <a:ext cx="3154680" cy="1165860"/>
            <a:chOff x="0" y="0"/>
            <a:chExt cx="4206240" cy="15544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2062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4" r="0" b="-272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206240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Cost approach: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251960" y="8298180"/>
            <a:ext cx="12893040" cy="1165860"/>
            <a:chOff x="0" y="0"/>
            <a:chExt cx="17190720" cy="15544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190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5481" r="0" b="-16548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17190720" cy="1583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Costs are front-loaded for platform build &amp; curriculum validation in Phase 1, and drop sharply per additional city once the technology and ISLRTC-aligned curriculum are standardised.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SCALABILITY ROADMAP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Pilot to National — a phased, proven progression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6596360" cy="548640"/>
            <a:chOff x="0" y="0"/>
            <a:chExt cx="22128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1284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phase multiplies reach while reusing the same certified curriculum, technology and government dashboard.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6480">
            <a:off x="1549327" y="7877175"/>
            <a:ext cx="15184784" cy="0"/>
          </a:xfrm>
          <a:prstGeom prst="line">
            <a:avLst/>
          </a:prstGeom>
          <a:ln cap="rnd" w="19050">
            <a:solidFill>
              <a:srgbClr val="E4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837944" y="6995160"/>
            <a:ext cx="2537460" cy="891540"/>
            <a:chOff x="0" y="0"/>
            <a:chExt cx="3383280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32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1024128"/>
                  </a:lnTo>
                  <a:cubicBezTo>
                    <a:pt x="3383280" y="1115060"/>
                    <a:pt x="3309620" y="1188720"/>
                    <a:pt x="3218688" y="1188720"/>
                  </a:cubicBezTo>
                  <a:lnTo>
                    <a:pt x="164592" y="1188720"/>
                  </a:lnTo>
                  <a:cubicBezTo>
                    <a:pt x="73660" y="1188720"/>
                    <a:pt x="0" y="1115060"/>
                    <a:pt x="0" y="1024128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56059" y="6644545"/>
            <a:ext cx="701230" cy="701230"/>
            <a:chOff x="0" y="0"/>
            <a:chExt cx="934974" cy="9349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4974" cy="934974"/>
            </a:xfrm>
            <a:custGeom>
              <a:avLst/>
              <a:gdLst/>
              <a:ahLst/>
              <a:cxnLst/>
              <a:rect r="r" b="b" t="t" l="l"/>
              <a:pathLst>
                <a:path h="934974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4974"/>
                    <a:pt x="467487" y="934974"/>
                  </a:cubicBezTo>
                  <a:cubicBezTo>
                    <a:pt x="209296" y="934974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B2A4A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777490" y="6665976"/>
            <a:ext cx="658368" cy="658368"/>
            <a:chOff x="0" y="0"/>
            <a:chExt cx="877824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75104" y="7159752"/>
            <a:ext cx="2263140" cy="480060"/>
            <a:chOff x="0" y="0"/>
            <a:chExt cx="301752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Pilot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2204" y="8133588"/>
            <a:ext cx="2948940" cy="328994"/>
            <a:chOff x="0" y="0"/>
            <a:chExt cx="3931920" cy="4386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1920" cy="438658"/>
            </a:xfrm>
            <a:custGeom>
              <a:avLst/>
              <a:gdLst/>
              <a:ahLst/>
              <a:cxnLst/>
              <a:rect r="r" b="b" t="t" l="l"/>
              <a:pathLst>
                <a:path h="4386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794" r="0" b="-12051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93192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b="true" sz="1649" spc="183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2204" y="8462772"/>
            <a:ext cx="2948940" cy="685800"/>
            <a:chOff x="0" y="0"/>
            <a:chExt cx="393192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hospitals + 10 schools, Pune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55464" y="6309360"/>
            <a:ext cx="2537460" cy="1577340"/>
            <a:chOff x="0" y="0"/>
            <a:chExt cx="3383280" cy="2103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832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1938528"/>
                  </a:lnTo>
                  <a:cubicBezTo>
                    <a:pt x="3383280" y="2029460"/>
                    <a:pt x="3309620" y="2103120"/>
                    <a:pt x="321868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1B5E6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773579" y="5958745"/>
            <a:ext cx="701230" cy="701230"/>
            <a:chOff x="0" y="0"/>
            <a:chExt cx="934974" cy="9349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4974" cy="934974"/>
            </a:xfrm>
            <a:custGeom>
              <a:avLst/>
              <a:gdLst/>
              <a:ahLst/>
              <a:cxnLst/>
              <a:rect r="r" b="b" t="t" l="l"/>
              <a:pathLst>
                <a:path h="934974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4974"/>
                    <a:pt x="467487" y="934974"/>
                  </a:cubicBezTo>
                  <a:cubicBezTo>
                    <a:pt x="209296" y="934974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B5E63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795010" y="5980176"/>
            <a:ext cx="658368" cy="658368"/>
            <a:chOff x="0" y="0"/>
            <a:chExt cx="87782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5E6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992624" y="6581775"/>
            <a:ext cx="2263140" cy="480060"/>
            <a:chOff x="0" y="0"/>
            <a:chExt cx="301752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649724" y="8133588"/>
            <a:ext cx="2948940" cy="328994"/>
            <a:chOff x="0" y="0"/>
            <a:chExt cx="3931920" cy="43865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31920" cy="438658"/>
            </a:xfrm>
            <a:custGeom>
              <a:avLst/>
              <a:gdLst/>
              <a:ahLst/>
              <a:cxnLst/>
              <a:rect r="r" b="b" t="t" l="l"/>
              <a:pathLst>
                <a:path h="4386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794" r="0" b="-12051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93192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b="true" sz="1649" spc="183">
                  <a:solidFill>
                    <a:srgbClr val="1B5E6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649724" y="8462772"/>
            <a:ext cx="2948940" cy="685800"/>
            <a:chOff x="0" y="0"/>
            <a:chExt cx="393192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Pune district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72984" y="5623560"/>
            <a:ext cx="2537460" cy="2263140"/>
            <a:chOff x="0" y="0"/>
            <a:chExt cx="3383280" cy="3017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383280" cy="3017520"/>
            </a:xfrm>
            <a:custGeom>
              <a:avLst/>
              <a:gdLst/>
              <a:ahLst/>
              <a:cxnLst/>
              <a:rect r="r" b="b" t="t" l="l"/>
              <a:pathLst>
                <a:path h="301752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2852928"/>
                  </a:lnTo>
                  <a:cubicBezTo>
                    <a:pt x="3383280" y="2943860"/>
                    <a:pt x="3309620" y="3017520"/>
                    <a:pt x="3218688" y="3017520"/>
                  </a:cubicBezTo>
                  <a:lnTo>
                    <a:pt x="164592" y="3017520"/>
                  </a:lnTo>
                  <a:cubicBezTo>
                    <a:pt x="73660" y="3017520"/>
                    <a:pt x="0" y="2943860"/>
                    <a:pt x="0" y="2852928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791099" y="5272945"/>
            <a:ext cx="701230" cy="701230"/>
            <a:chOff x="0" y="0"/>
            <a:chExt cx="934974" cy="93497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4974" cy="934974"/>
            </a:xfrm>
            <a:custGeom>
              <a:avLst/>
              <a:gdLst/>
              <a:ahLst/>
              <a:cxnLst/>
              <a:rect r="r" b="b" t="t" l="l"/>
              <a:pathLst>
                <a:path h="934974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4974"/>
                    <a:pt x="467487" y="934974"/>
                  </a:cubicBezTo>
                  <a:cubicBezTo>
                    <a:pt x="209296" y="934974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E7C7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812530" y="5294376"/>
            <a:ext cx="658368" cy="658368"/>
            <a:chOff x="0" y="0"/>
            <a:chExt cx="877824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E7C7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010144" y="5876925"/>
            <a:ext cx="2263140" cy="480060"/>
            <a:chOff x="0" y="0"/>
            <a:chExt cx="301752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State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667244" y="8133588"/>
            <a:ext cx="2948940" cy="328994"/>
            <a:chOff x="0" y="0"/>
            <a:chExt cx="3931920" cy="43865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931920" cy="438658"/>
            </a:xfrm>
            <a:custGeom>
              <a:avLst/>
              <a:gdLst/>
              <a:ahLst/>
              <a:cxnLst/>
              <a:rect r="r" b="b" t="t" l="l"/>
              <a:pathLst>
                <a:path h="4386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794" r="0" b="-12051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393192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b="true" sz="1649" spc="183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667244" y="8462772"/>
            <a:ext cx="2948940" cy="685800"/>
            <a:chOff x="0" y="0"/>
            <a:chExt cx="393192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Maharashtra-wide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890504" y="4937760"/>
            <a:ext cx="2537460" cy="2948940"/>
            <a:chOff x="0" y="0"/>
            <a:chExt cx="3383280" cy="3931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832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3767328"/>
                  </a:lnTo>
                  <a:cubicBezTo>
                    <a:pt x="3383280" y="3858260"/>
                    <a:pt x="3309620" y="3931920"/>
                    <a:pt x="32186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17A39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808619" y="4587145"/>
            <a:ext cx="701230" cy="701230"/>
            <a:chOff x="0" y="0"/>
            <a:chExt cx="934974" cy="93497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4974" cy="934974"/>
            </a:xfrm>
            <a:custGeom>
              <a:avLst/>
              <a:gdLst/>
              <a:ahLst/>
              <a:cxnLst/>
              <a:rect r="r" b="b" t="t" l="l"/>
              <a:pathLst>
                <a:path h="934974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4974"/>
                    <a:pt x="467487" y="934974"/>
                  </a:cubicBezTo>
                  <a:cubicBezTo>
                    <a:pt x="209296" y="934974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7A39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830050" y="4608576"/>
            <a:ext cx="658368" cy="658368"/>
            <a:chOff x="0" y="0"/>
            <a:chExt cx="877824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7A39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027664" y="5183124"/>
            <a:ext cx="2263140" cy="480060"/>
            <a:chOff x="0" y="0"/>
            <a:chExt cx="301752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Region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684764" y="8133588"/>
            <a:ext cx="2948940" cy="328994"/>
            <a:chOff x="0" y="0"/>
            <a:chExt cx="3931920" cy="43865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31920" cy="438658"/>
            </a:xfrm>
            <a:custGeom>
              <a:avLst/>
              <a:gdLst/>
              <a:ahLst/>
              <a:cxnLst/>
              <a:rect r="r" b="b" t="t" l="l"/>
              <a:pathLst>
                <a:path h="4386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794" r="0" b="-12051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393192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b="true" sz="1649" spc="183">
                  <a:solidFill>
                    <a:srgbClr val="17A39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684764" y="8462772"/>
            <a:ext cx="2948940" cy="685800"/>
            <a:chOff x="0" y="0"/>
            <a:chExt cx="393192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Western India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908024" y="4251960"/>
            <a:ext cx="2537460" cy="3634740"/>
            <a:chOff x="0" y="0"/>
            <a:chExt cx="3383280" cy="48463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383280" cy="4846320"/>
            </a:xfrm>
            <a:custGeom>
              <a:avLst/>
              <a:gdLst/>
              <a:ahLst/>
              <a:cxnLst/>
              <a:rect r="r" b="b" t="t" l="l"/>
              <a:pathLst>
                <a:path h="4846320" w="3383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3218688" y="0"/>
                  </a:lnTo>
                  <a:cubicBezTo>
                    <a:pt x="3309620" y="0"/>
                    <a:pt x="3383280" y="73660"/>
                    <a:pt x="3383280" y="164592"/>
                  </a:cubicBezTo>
                  <a:lnTo>
                    <a:pt x="3383280" y="4681728"/>
                  </a:lnTo>
                  <a:cubicBezTo>
                    <a:pt x="3383280" y="4772660"/>
                    <a:pt x="3309620" y="4846320"/>
                    <a:pt x="3218688" y="4846320"/>
                  </a:cubicBezTo>
                  <a:lnTo>
                    <a:pt x="164592" y="4846320"/>
                  </a:lnTo>
                  <a:cubicBezTo>
                    <a:pt x="73660" y="4846320"/>
                    <a:pt x="0" y="4772660"/>
                    <a:pt x="0" y="4681728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826139" y="3901345"/>
            <a:ext cx="701230" cy="701230"/>
            <a:chOff x="0" y="0"/>
            <a:chExt cx="934974" cy="93497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34974" cy="934974"/>
            </a:xfrm>
            <a:custGeom>
              <a:avLst/>
              <a:gdLst/>
              <a:ahLst/>
              <a:cxnLst/>
              <a:rect r="r" b="b" t="t" l="l"/>
              <a:pathLst>
                <a:path h="934974" w="934974">
                  <a:moveTo>
                    <a:pt x="0" y="467487"/>
                  </a:moveTo>
                  <a:cubicBezTo>
                    <a:pt x="0" y="209296"/>
                    <a:pt x="209296" y="0"/>
                    <a:pt x="467487" y="0"/>
                  </a:cubicBezTo>
                  <a:cubicBezTo>
                    <a:pt x="725678" y="0"/>
                    <a:pt x="934974" y="209296"/>
                    <a:pt x="934974" y="467487"/>
                  </a:cubicBezTo>
                  <a:cubicBezTo>
                    <a:pt x="934974" y="725678"/>
                    <a:pt x="725678" y="934974"/>
                    <a:pt x="467487" y="934974"/>
                  </a:cubicBezTo>
                  <a:cubicBezTo>
                    <a:pt x="209296" y="934974"/>
                    <a:pt x="0" y="725678"/>
                    <a:pt x="0" y="467487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F2A541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4847570" y="3922776"/>
            <a:ext cx="658368" cy="658368"/>
            <a:chOff x="0" y="0"/>
            <a:chExt cx="877824" cy="87782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2A54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4045184" y="4476750"/>
            <a:ext cx="2263140" cy="480060"/>
            <a:chOff x="0" y="0"/>
            <a:chExt cx="3017520" cy="6400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National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702284" y="8133588"/>
            <a:ext cx="2948940" cy="328994"/>
            <a:chOff x="0" y="0"/>
            <a:chExt cx="3931920" cy="43865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931920" cy="438658"/>
            </a:xfrm>
            <a:custGeom>
              <a:avLst/>
              <a:gdLst/>
              <a:ahLst/>
              <a:cxnLst/>
              <a:rect r="r" b="b" t="t" l="l"/>
              <a:pathLst>
                <a:path h="43865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438658"/>
                  </a:lnTo>
                  <a:lnTo>
                    <a:pt x="0" y="4386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794" r="0" b="-12051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3931920" cy="467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79"/>
                </a:lnSpc>
              </a:pPr>
              <a:r>
                <a:rPr lang="en-US" b="true" sz="1649" spc="183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PHASE 5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702284" y="8462772"/>
            <a:ext cx="2948940" cy="685800"/>
            <a:chOff x="0" y="0"/>
            <a:chExt cx="3931920" cy="914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states + Govt. Dashboard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22960" y="9354312"/>
            <a:ext cx="16596360" cy="411480"/>
            <a:chOff x="0" y="0"/>
            <a:chExt cx="2212848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2128480" cy="548640"/>
            </a:xfrm>
            <a:custGeom>
              <a:avLst/>
              <a:gdLst/>
              <a:ahLst/>
              <a:cxnLst/>
              <a:rect r="r" b="b" t="t" l="l"/>
              <a:pathLst>
                <a:path h="54864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5896" r="0" b="-73589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221284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69"/>
                </a:lnSpc>
              </a:pPr>
              <a:r>
                <a:rPr lang="en-US" sz="1724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Sustained via government contracts, CSR-funded training, and institutional accreditation fees.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benefits, and how we'll measure 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16596360" cy="1371600"/>
            <a:chOff x="0" y="0"/>
            <a:chExt cx="2212848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645920"/>
                  </a:lnTo>
                  <a:cubicBezTo>
                    <a:pt x="22128480" y="1746885"/>
                    <a:pt x="22046564" y="1828800"/>
                    <a:pt x="21945600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0E7C7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263140"/>
            <a:ext cx="4663440" cy="1371600"/>
            <a:chOff x="0" y="0"/>
            <a:chExt cx="621792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2179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50 lakh – 6+ crore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035040" y="2263140"/>
            <a:ext cx="10972800" cy="1371600"/>
            <a:chOff x="0" y="0"/>
            <a:chExt cx="146304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04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hearing-impaired citizens in India gain a functional path to communicate with essential public services — starting with the Pune pilot's 5 hospitals &amp; 10 schools.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4036695"/>
            <a:ext cx="3962400" cy="1905000"/>
            <a:chOff x="0" y="0"/>
            <a:chExt cx="5283200" cy="254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69848" y="4265676"/>
            <a:ext cx="411480" cy="411480"/>
            <a:chOff x="0" y="0"/>
            <a:chExt cx="5486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69848" y="472135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Certified Individuals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9848" y="532066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Adoption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031105" y="4036695"/>
            <a:ext cx="3962400" cy="1905000"/>
            <a:chOff x="0" y="0"/>
            <a:chExt cx="5283200" cy="254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287518" y="4265676"/>
            <a:ext cx="411480" cy="411480"/>
            <a:chOff x="0" y="0"/>
            <a:chExt cx="5486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287518" y="472135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Certified Institutions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87518" y="532066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Ecosystem growth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48775" y="4036695"/>
            <a:ext cx="3962400" cy="1905000"/>
            <a:chOff x="0" y="0"/>
            <a:chExt cx="5283200" cy="254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505188" y="4265676"/>
            <a:ext cx="411480" cy="411480"/>
            <a:chOff x="0" y="0"/>
            <a:chExt cx="54864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505188" y="472135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Active Learners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05188" y="532066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Engagement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466445" y="4036695"/>
            <a:ext cx="3962400" cy="1905000"/>
            <a:chOff x="0" y="0"/>
            <a:chExt cx="5283200" cy="254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722858" y="4265676"/>
            <a:ext cx="411480" cy="411480"/>
            <a:chOff x="0" y="0"/>
            <a:chExt cx="54864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722858" y="472135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Rural Users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722858" y="532066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Accessibility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3435" y="6196965"/>
            <a:ext cx="3962400" cy="1905000"/>
            <a:chOff x="0" y="0"/>
            <a:chExt cx="5283200" cy="254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69848" y="6425946"/>
            <a:ext cx="411480" cy="411480"/>
            <a:chOff x="0" y="0"/>
            <a:chExt cx="54864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69848" y="688162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Avg. Training Time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9848" y="748093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efficiency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031105" y="6196965"/>
            <a:ext cx="3962400" cy="1905000"/>
            <a:chOff x="0" y="0"/>
            <a:chExt cx="5283200" cy="2540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287518" y="6425946"/>
            <a:ext cx="411480" cy="411480"/>
            <a:chOff x="0" y="0"/>
            <a:chExt cx="54864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287518" y="688162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Communication Sessions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287518" y="748093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Practical impact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248775" y="6196965"/>
            <a:ext cx="3962400" cy="1905000"/>
            <a:chOff x="0" y="0"/>
            <a:chExt cx="5283200" cy="2540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505188" y="6425946"/>
            <a:ext cx="411480" cy="411480"/>
            <a:chOff x="0" y="0"/>
            <a:chExt cx="54864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505188" y="688162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Satisfaction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05188" y="748093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 quality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3466445" y="6196965"/>
            <a:ext cx="3962400" cy="1905000"/>
            <a:chOff x="0" y="0"/>
            <a:chExt cx="5283200" cy="2540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832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5283200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153914" y="0"/>
                  </a:lnTo>
                  <a:cubicBezTo>
                    <a:pt x="5225288" y="0"/>
                    <a:pt x="5283200" y="57912"/>
                    <a:pt x="5283200" y="129286"/>
                  </a:cubicBezTo>
                  <a:lnTo>
                    <a:pt x="5283200" y="2410714"/>
                  </a:lnTo>
                  <a:cubicBezTo>
                    <a:pt x="5283200" y="2482088"/>
                    <a:pt x="5225288" y="2540000"/>
                    <a:pt x="5153914" y="2540000"/>
                  </a:cubicBezTo>
                  <a:lnTo>
                    <a:pt x="129286" y="2540000"/>
                  </a:lnTo>
                  <a:cubicBezTo>
                    <a:pt x="57912" y="2540000"/>
                    <a:pt x="0" y="2482088"/>
                    <a:pt x="0" y="241071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EF2F6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722858" y="6425946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A541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3722858" y="6881622"/>
            <a:ext cx="344957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9"/>
              </a:lnSpc>
            </a:pPr>
            <a:r>
              <a:rPr lang="en-US" sz="1824" b="true">
                <a:solidFill>
                  <a:srgbClr val="1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Govt. Participation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22858" y="7480935"/>
            <a:ext cx="344957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624">
                <a:solidFill>
                  <a:srgbClr val="5B6B82"/>
                </a:solidFill>
                <a:latin typeface="Calibri (MS)"/>
                <a:ea typeface="Calibri (MS)"/>
                <a:cs typeface="Calibri (MS)"/>
                <a:sym typeface="Calibri (MS)"/>
              </a:rPr>
              <a:t>Policy adoption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822960" y="9121140"/>
            <a:ext cx="16596360" cy="548640"/>
            <a:chOff x="0" y="0"/>
            <a:chExt cx="221284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B6B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Target: measurable staff-competency gains within the 90-day Pune pilot; district-wide impact by Phase 2; state-wide by Phase 3.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89788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9"/>
                </a:lnSpc>
              </a:pPr>
              <a:r>
                <a:rPr lang="en-US" b="true" sz="2149" spc="330">
                  <a:solidFill>
                    <a:srgbClr val="0E7C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DIFFERENT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733520" cy="1097280"/>
            <a:chOff x="0" y="0"/>
            <a:chExt cx="2231136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113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31136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2A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Everyone else builds an app. We build the ecosystem an app can't be.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7955280" cy="5897880"/>
            <a:chOff x="0" y="0"/>
            <a:chExt cx="10607040" cy="786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07040" cy="7863840"/>
            </a:xfrm>
            <a:custGeom>
              <a:avLst/>
              <a:gdLst/>
              <a:ahLst/>
              <a:cxnLst/>
              <a:rect r="r" b="b" t="t" l="l"/>
              <a:pathLst>
                <a:path h="7863840" w="10607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7717536"/>
                  </a:lnTo>
                  <a:cubicBezTo>
                    <a:pt x="10607040" y="7798308"/>
                    <a:pt x="10541508" y="7863840"/>
                    <a:pt x="104607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EEF2F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11780"/>
            <a:ext cx="7132320" cy="480060"/>
            <a:chOff x="0" y="0"/>
            <a:chExt cx="950976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B6B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APPROACHES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497580"/>
            <a:ext cx="7132320" cy="416621"/>
            <a:chOff x="0" y="0"/>
            <a:chExt cx="9509760" cy="55549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09760" cy="555494"/>
            </a:xfrm>
            <a:custGeom>
              <a:avLst/>
              <a:gdLst/>
              <a:ahLst/>
              <a:cxnLst/>
              <a:rect r="r" b="b" t="t" l="l"/>
              <a:pathLst>
                <a:path h="55549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55494"/>
                  </a:lnTo>
                  <a:lnTo>
                    <a:pt x="0" y="555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90" r="0" b="-2829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509760" cy="593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YouTube videos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3909060"/>
            <a:ext cx="7132320" cy="411480"/>
            <a:chOff x="0" y="0"/>
            <a:chExt cx="95097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structured learning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4663440"/>
            <a:ext cx="7132320" cy="416621"/>
            <a:chOff x="0" y="0"/>
            <a:chExt cx="9509760" cy="55549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555494"/>
            </a:xfrm>
            <a:custGeom>
              <a:avLst/>
              <a:gdLst/>
              <a:ahLst/>
              <a:cxnLst/>
              <a:rect r="r" b="b" t="t" l="l"/>
              <a:pathLst>
                <a:path h="55549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55494"/>
                  </a:lnTo>
                  <a:lnTo>
                    <a:pt x="0" y="555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90" r="0" b="-2829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509760" cy="593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ISL dictionary apps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5074920"/>
            <a:ext cx="7132320" cy="411480"/>
            <a:chOff x="0" y="0"/>
            <a:chExt cx="950976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Reference only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5829300"/>
            <a:ext cx="7132320" cy="416621"/>
            <a:chOff x="0" y="0"/>
            <a:chExt cx="9509760" cy="5554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555494"/>
            </a:xfrm>
            <a:custGeom>
              <a:avLst/>
              <a:gdLst/>
              <a:ahLst/>
              <a:cxnLst/>
              <a:rect r="r" b="b" t="t" l="l"/>
              <a:pathLst>
                <a:path h="55549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55494"/>
                  </a:lnTo>
                  <a:lnTo>
                    <a:pt x="0" y="555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90" r="0" b="-2829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509760" cy="593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Interpreter-booking apps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6240780"/>
            <a:ext cx="7132320" cy="411480"/>
            <a:chOff x="0" y="0"/>
            <a:chExt cx="950976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adoption (&lt;300 interpreters)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995160"/>
            <a:ext cx="7132320" cy="416621"/>
            <a:chOff x="0" y="0"/>
            <a:chExt cx="9509760" cy="55549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555494"/>
            </a:xfrm>
            <a:custGeom>
              <a:avLst/>
              <a:gdLst/>
              <a:ahLst/>
              <a:cxnLst/>
              <a:rect r="r" b="b" t="t" l="l"/>
              <a:pathLst>
                <a:path h="555494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55494"/>
                  </a:lnTo>
                  <a:lnTo>
                    <a:pt x="0" y="5554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4190" r="0" b="-2829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509760" cy="593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9"/>
                </a:lnSpc>
              </a:pPr>
              <a:r>
                <a:rPr lang="en-US" sz="2074" b="true">
                  <a:solidFill>
                    <a:srgbClr val="1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General learning apps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34440" y="7406640"/>
            <a:ext cx="7132320" cy="411480"/>
            <a:chOff x="0" y="0"/>
            <a:chExt cx="950976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policy integration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64040" y="2537460"/>
            <a:ext cx="7955280" cy="5897880"/>
            <a:chOff x="0" y="0"/>
            <a:chExt cx="10607040" cy="7863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40" cy="7863840"/>
            </a:xfrm>
            <a:custGeom>
              <a:avLst/>
              <a:gdLst/>
              <a:ahLst/>
              <a:cxnLst/>
              <a:rect r="r" b="b" t="t" l="l"/>
              <a:pathLst>
                <a:path h="7863840" w="106070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460736" y="0"/>
                  </a:lnTo>
                  <a:cubicBezTo>
                    <a:pt x="10541508" y="0"/>
                    <a:pt x="10607040" y="65532"/>
                    <a:pt x="10607040" y="146304"/>
                  </a:cubicBezTo>
                  <a:lnTo>
                    <a:pt x="10607040" y="7717536"/>
                  </a:lnTo>
                  <a:cubicBezTo>
                    <a:pt x="10607040" y="7798308"/>
                    <a:pt x="10541508" y="7863840"/>
                    <a:pt x="10460736" y="7863840"/>
                  </a:cubicBezTo>
                  <a:lnTo>
                    <a:pt x="146304" y="7863840"/>
                  </a:lnTo>
                  <a:cubicBezTo>
                    <a:pt x="65532" y="7863840"/>
                    <a:pt x="0" y="7798308"/>
                    <a:pt x="0" y="7717536"/>
                  </a:cubicBezTo>
                  <a:close/>
                </a:path>
              </a:pathLst>
            </a:custGeom>
            <a:solidFill>
              <a:srgbClr val="1B2A4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75520" y="2811780"/>
            <a:ext cx="7132320" cy="480060"/>
            <a:chOff x="0" y="0"/>
            <a:chExt cx="9509760" cy="640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09760" cy="640080"/>
            </a:xfrm>
            <a:custGeom>
              <a:avLst/>
              <a:gdLst/>
              <a:ahLst/>
              <a:cxnLst/>
              <a:rect r="r" b="b" t="t" l="l"/>
              <a:pathLst>
                <a:path h="6400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9491" r="0" b="-2394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5097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SIGNBRIDGE INDIA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75520" y="3497580"/>
            <a:ext cx="7132320" cy="431076"/>
            <a:chOff x="0" y="0"/>
            <a:chExt cx="9509760" cy="57476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09760" cy="574768"/>
            </a:xfrm>
            <a:custGeom>
              <a:avLst/>
              <a:gdLst/>
              <a:ahLst/>
              <a:cxnLst/>
              <a:rect r="r" b="b" t="t" l="l"/>
              <a:pathLst>
                <a:path h="5747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74768"/>
                  </a:lnTo>
                  <a:lnTo>
                    <a:pt x="0" y="574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660" r="0" b="-2701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509760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75520" y="3909060"/>
            <a:ext cx="7132320" cy="411480"/>
            <a:chOff x="0" y="0"/>
            <a:chExt cx="950976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CFE0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learning + live communication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75520" y="4663440"/>
            <a:ext cx="7132320" cy="431076"/>
            <a:chOff x="0" y="0"/>
            <a:chExt cx="9509760" cy="5747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0" cy="574768"/>
            </a:xfrm>
            <a:custGeom>
              <a:avLst/>
              <a:gdLst/>
              <a:ahLst/>
              <a:cxnLst/>
              <a:rect r="r" b="b" t="t" l="l"/>
              <a:pathLst>
                <a:path h="5747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74768"/>
                  </a:lnTo>
                  <a:lnTo>
                    <a:pt x="0" y="574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660" r="0" b="-27011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509760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Certification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75520" y="5074920"/>
            <a:ext cx="7132320" cy="411480"/>
            <a:chOff x="0" y="0"/>
            <a:chExt cx="950976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CFE0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Standardised, tiered, institutional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75520" y="5829300"/>
            <a:ext cx="7132320" cy="431076"/>
            <a:chOff x="0" y="0"/>
            <a:chExt cx="9509760" cy="5747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09760" cy="574768"/>
            </a:xfrm>
            <a:custGeom>
              <a:avLst/>
              <a:gdLst/>
              <a:ahLst/>
              <a:cxnLst/>
              <a:rect r="r" b="b" t="t" l="l"/>
              <a:pathLst>
                <a:path h="5747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74768"/>
                  </a:lnTo>
                  <a:lnTo>
                    <a:pt x="0" y="574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660" r="0" b="-27011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9509760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Policy integration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6240780"/>
            <a:ext cx="7132320" cy="411480"/>
            <a:chOff x="0" y="0"/>
            <a:chExt cx="950976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CFE0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Mandated, ministry-backed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875520" y="6995160"/>
            <a:ext cx="7132320" cy="431076"/>
            <a:chOff x="0" y="0"/>
            <a:chExt cx="9509760" cy="5747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0" cy="574768"/>
            </a:xfrm>
            <a:custGeom>
              <a:avLst/>
              <a:gdLst/>
              <a:ahLst/>
              <a:cxnLst/>
              <a:rect r="r" b="b" t="t" l="l"/>
              <a:pathLst>
                <a:path h="57476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74768"/>
                  </a:lnTo>
                  <a:lnTo>
                    <a:pt x="0" y="574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4660" r="0" b="-27011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509760" cy="622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sz="217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loop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75520" y="7406640"/>
            <a:ext cx="7132320" cy="411480"/>
            <a:chOff x="0" y="0"/>
            <a:chExt cx="950976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509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9"/>
                </a:lnSpc>
              </a:pPr>
              <a:r>
                <a:rPr lang="en-US" sz="1774">
                  <a:solidFill>
                    <a:srgbClr val="CFE0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→ Training → Certification → Policy → Analytics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8778240"/>
            <a:ext cx="16596360" cy="685800"/>
            <a:chOff x="0" y="0"/>
            <a:chExt cx="2212848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128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1537" r="0" b="-42153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2128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i="true">
                  <a:solidFill>
                    <a:srgbClr val="0E7C7B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Our unique unlock: we treat ISL adoption as a systems problem, not a content problem — no existing ISL tool in India closes the full loop.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246888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E7C7B">
                <a:alpha val="745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13280" y="6583680"/>
            <a:ext cx="6172200" cy="6172200"/>
            <a:chOff x="0" y="0"/>
            <a:chExt cx="8229600" cy="822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F2A541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429000"/>
            <a:ext cx="15773400" cy="1508760"/>
            <a:chOff x="0" y="0"/>
            <a:chExt cx="2103120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103120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4869180"/>
            <a:ext cx="15087600" cy="685800"/>
            <a:chOff x="0" y="0"/>
            <a:chExt cx="201168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1168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CFE0E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Let's make ISL a basic public service skill — not an afterthought.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7920">
            <a:off x="1224905" y="6030278"/>
            <a:ext cx="8248669" cy="0"/>
          </a:xfrm>
          <a:prstGeom prst="line">
            <a:avLst/>
          </a:prstGeom>
          <a:ln cap="rnd" w="9525">
            <a:solidFill>
              <a:srgbClr val="3C4E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234440" y="6377940"/>
            <a:ext cx="8229600" cy="548640"/>
            <a:chOff x="0" y="0"/>
            <a:chExt cx="109728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F2A5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 &amp; ANSWERS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7063740"/>
            <a:ext cx="2743200" cy="411480"/>
            <a:chOff x="0" y="0"/>
            <a:chExt cx="36576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77640" y="7063740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Mitians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7639812"/>
            <a:ext cx="2743200" cy="411480"/>
            <a:chOff x="0" y="0"/>
            <a:chExt cx="36576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CHAPTER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977640" y="7639812"/>
            <a:ext cx="8229600" cy="411480"/>
            <a:chOff x="0" y="0"/>
            <a:chExt cx="109728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[Yi Chapter]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8215884"/>
            <a:ext cx="2743200" cy="411480"/>
            <a:chOff x="0" y="0"/>
            <a:chExt cx="36576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8FA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CONTACT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77640" y="8215884"/>
            <a:ext cx="8229600" cy="411480"/>
            <a:chOff x="0" y="0"/>
            <a:chExt cx="109728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[email / phone]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85800" y="9765792"/>
            <a:ext cx="10972800" cy="411480"/>
            <a:chOff x="0" y="0"/>
            <a:chExt cx="14630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9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SignBridge India  |  Indian Sign Language for All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145000" y="9765792"/>
            <a:ext cx="548640" cy="411480"/>
            <a:chOff x="0" y="0"/>
            <a:chExt cx="73152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9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DAHS9QZGT2E</dc:identifier>
  <dcterms:modified xsi:type="dcterms:W3CDTF">2011-08-01T06:04:30Z</dcterms:modified>
  <cp:revision>1</cp:revision>
  <dc:title>Mitians</dc:title>
</cp:coreProperties>
</file>